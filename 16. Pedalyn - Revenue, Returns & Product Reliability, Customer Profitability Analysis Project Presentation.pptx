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273" r:id="rId11"/>
    <p:sldId id="264" r:id="rId12"/>
    <p:sldId id="303" r:id="rId13"/>
    <p:sldId id="293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B484-3B55-367F-51CF-263AE4E3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81B2E-A296-7EAE-C6CD-60103413B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99A67-6743-5C7F-8A09-044DD3444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B31F3-1C3B-F67B-5D97-FF985A31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4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3736"/>
            <a:ext cx="11996928" cy="2441448"/>
          </a:xfrm>
        </p:spPr>
        <p:txBody>
          <a:bodyPr>
            <a:normAutofit/>
          </a:bodyPr>
          <a:lstStyle/>
          <a:p>
            <a:r>
              <a:rPr lang="en-US" b="1" dirty="0"/>
              <a:t>Revenue, Returns &amp; Product Reliability and Customer Profitability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24A1-A827-C09B-9982-9E4E0D36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93FF-6D5A-BD3B-C719-B7F26747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45586-D148-C91F-6469-39D9D7106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To </a:t>
            </a:r>
            <a:r>
              <a:rPr lang="en-US" sz="1500" b="1" dirty="0"/>
              <a:t>analyze retail performance across Returns, Revenue, and Profitability</a:t>
            </a:r>
            <a:r>
              <a:rPr lang="en-US" sz="1500" dirty="0"/>
              <a:t> and uncover </a:t>
            </a:r>
            <a:r>
              <a:rPr lang="en-US" sz="1500" b="1" dirty="0"/>
              <a:t>actionable business insights</a:t>
            </a:r>
            <a:r>
              <a:rPr lang="en-US" sz="1500" dirty="0"/>
              <a:t>. And also, help stakeholders </a:t>
            </a:r>
            <a:r>
              <a:rPr lang="en-US" sz="1500" b="1" dirty="0"/>
              <a:t>identify revenue drivers, minimize returns, and maximize profitability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Orders</a:t>
            </a:r>
            <a:endParaRPr lang="en-US" sz="1500" dirty="0"/>
          </a:p>
          <a:p>
            <a:pPr lvl="1"/>
            <a:r>
              <a:rPr lang="en-US" sz="1500" b="1" dirty="0"/>
              <a:t>Total Revenue</a:t>
            </a:r>
            <a:endParaRPr lang="en-US" sz="1500" dirty="0"/>
          </a:p>
          <a:p>
            <a:pPr lvl="1"/>
            <a:r>
              <a:rPr lang="en-US" sz="1500" b="1" dirty="0"/>
              <a:t>Total Profit</a:t>
            </a:r>
            <a:endParaRPr lang="en-US" sz="1500" dirty="0"/>
          </a:p>
          <a:p>
            <a:pPr lvl="1"/>
            <a:r>
              <a:rPr lang="en-US" sz="1500" b="1" dirty="0"/>
              <a:t>Return Rate (%)</a:t>
            </a:r>
            <a:endParaRPr lang="en-US" sz="1500" dirty="0"/>
          </a:p>
          <a:p>
            <a:pPr lvl="1"/>
            <a:r>
              <a:rPr lang="en-US" sz="1500" b="1" dirty="0"/>
              <a:t>Average Order Value (AOV)</a:t>
            </a:r>
            <a:endParaRPr lang="en-US" sz="1500" dirty="0"/>
          </a:p>
          <a:p>
            <a:pPr lvl="1"/>
            <a:r>
              <a:rPr lang="en-US" sz="1500" b="1" dirty="0"/>
              <a:t>Profit Margin (%)</a:t>
            </a:r>
            <a:endParaRPr lang="en-US" sz="1500" dirty="0"/>
          </a:p>
          <a:p>
            <a:pPr lvl="1"/>
            <a:r>
              <a:rPr lang="en-US" sz="1500" b="1" dirty="0"/>
              <a:t>Total Customers / Returned Products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b="1" dirty="0"/>
              <a:t>3 Interactive Power BI Dashboards</a:t>
            </a:r>
            <a:endParaRPr lang="en-US" sz="1500" dirty="0"/>
          </a:p>
          <a:p>
            <a:pPr lvl="1"/>
            <a:r>
              <a:rPr lang="en-US" sz="1500" b="1" dirty="0"/>
              <a:t>Revenue Performance</a:t>
            </a:r>
          </a:p>
          <a:p>
            <a:pPr lvl="1"/>
            <a:r>
              <a:rPr lang="en-US" sz="1500" b="1" dirty="0"/>
              <a:t>Returns &amp; Product Reliability</a:t>
            </a:r>
          </a:p>
          <a:p>
            <a:pPr lvl="1"/>
            <a:r>
              <a:rPr lang="en-US" sz="1500" b="1" dirty="0"/>
              <a:t>Customer Profitability</a:t>
            </a:r>
          </a:p>
          <a:p>
            <a:pPr lvl="1"/>
            <a:r>
              <a:rPr lang="en-US" sz="1500" b="1" dirty="0"/>
              <a:t>Business insights &amp; recommendations</a:t>
            </a:r>
            <a:endParaRPr lang="en-US" sz="1500" dirty="0"/>
          </a:p>
          <a:p>
            <a:pPr lvl="1"/>
            <a:r>
              <a:rPr lang="en-US" sz="1500" b="1" dirty="0"/>
              <a:t>Data-driven decision support framework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3206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A6768-51A5-1EAF-E52A-FB031278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1217-5392-3FB5-42D3-DFDB5D63F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4190C2-854B-8D33-92B9-3A0A1EF32D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51570"/>
            <a:ext cx="121920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500" b="1" dirty="0"/>
              <a:t>Context Highlights: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analyzes a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multi-category retail business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evaluate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gaps, risks, and profitability drivers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In a competitive retail environment, understanding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drives revenue and what causes losses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critical.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business deals with product categories such as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Bikes, Accessories, and Clothing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revenue heavily concentrated in select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challenges identified include: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product return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impacting overall efficiency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concentration in limited categories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increasing business risk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Variations in customer profitability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uneven value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analysis was designed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inefficiencies and uncover actionable, data-driven insights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objective is to transform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raw transactional data into meaningful insights and strategic business decisions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348353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892E-AA6C-4DFC-F94C-E4BD96CA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EE6-D4AC-D9A2-CA8D-45D1510D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EDC6-692D-4267-669D-C7E7BA29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Structured retail dataset (Sales, Products, Customers, Returns, Territories)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Relational (Fact + Dimension tables)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</a:t>
            </a:r>
            <a:r>
              <a:rPr lang="en-US" sz="1500" b="1" dirty="0"/>
              <a:t>2015 – 2017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Types: </a:t>
            </a:r>
            <a:r>
              <a:rPr lang="en-US" sz="1500" dirty="0" err="1"/>
              <a:t>ProductKey</a:t>
            </a:r>
            <a:r>
              <a:rPr lang="en-US" sz="1500" dirty="0"/>
              <a:t>, </a:t>
            </a:r>
            <a:r>
              <a:rPr lang="en-US" sz="1500" dirty="0" err="1"/>
              <a:t>CustomerKey</a:t>
            </a:r>
            <a:r>
              <a:rPr lang="en-US" sz="1500" dirty="0"/>
              <a:t>, </a:t>
            </a:r>
            <a:r>
              <a:rPr lang="en-US" sz="1500" dirty="0" err="1"/>
              <a:t>TerritoryKey</a:t>
            </a:r>
            <a:r>
              <a:rPr lang="en-US" sz="1500" dirty="0"/>
              <a:t>, </a:t>
            </a:r>
            <a:r>
              <a:rPr lang="en-US" sz="1500" dirty="0" err="1"/>
              <a:t>OrderNumber</a:t>
            </a:r>
            <a:endParaRPr lang="en-US" sz="1500" dirty="0"/>
          </a:p>
          <a:p>
            <a:pPr lvl="1"/>
            <a:r>
              <a:rPr lang="en-US" sz="1500" b="1" dirty="0"/>
              <a:t>Categories: </a:t>
            </a:r>
            <a:r>
              <a:rPr lang="en-US" sz="1500" dirty="0"/>
              <a:t>Bikes, Accessories, Clothing</a:t>
            </a:r>
          </a:p>
          <a:p>
            <a:pPr lvl="1"/>
            <a:r>
              <a:rPr lang="en-US" sz="1500" b="1" dirty="0"/>
              <a:t>Fact Table: </a:t>
            </a:r>
            <a:r>
              <a:rPr lang="en-US" sz="1500" dirty="0" err="1"/>
              <a:t>sales_combined</a:t>
            </a:r>
            <a:endParaRPr lang="en-US" sz="1500" dirty="0"/>
          </a:p>
          <a:p>
            <a:pPr lvl="1"/>
            <a:r>
              <a:rPr lang="en-US" sz="1500" b="1" dirty="0"/>
              <a:t>Dimension Tables: </a:t>
            </a:r>
            <a:r>
              <a:rPr lang="en-US" sz="1500" dirty="0"/>
              <a:t>customers, products, </a:t>
            </a:r>
            <a:r>
              <a:rPr lang="en-US" sz="1500" dirty="0" err="1"/>
              <a:t>product_categories</a:t>
            </a:r>
            <a:r>
              <a:rPr lang="en-US" sz="1500" dirty="0"/>
              <a:t>, territories, returns</a:t>
            </a:r>
          </a:p>
          <a:p>
            <a:pPr lvl="1"/>
            <a:r>
              <a:rPr lang="en-US" sz="1500" b="1" dirty="0"/>
              <a:t>Calculated Metrics:</a:t>
            </a:r>
          </a:p>
          <a:p>
            <a:pPr lvl="2"/>
            <a:r>
              <a:rPr lang="en-US" sz="1500" b="1" dirty="0"/>
              <a:t>Revenue = Quantity × Price</a:t>
            </a:r>
            <a:endParaRPr lang="en-US" sz="1500" dirty="0"/>
          </a:p>
          <a:p>
            <a:pPr lvl="2"/>
            <a:r>
              <a:rPr lang="en-US" sz="1500" b="1" dirty="0"/>
              <a:t>Profit = Quantity × (Price – Cost)</a:t>
            </a:r>
            <a:endParaRPr lang="en-US" sz="1500" dirty="0"/>
          </a:p>
          <a:p>
            <a:pPr lvl="2"/>
            <a:r>
              <a:rPr lang="en-US" sz="1500" b="1" dirty="0"/>
              <a:t>Return Rate = Returns / Sales</a:t>
            </a:r>
            <a:endParaRPr lang="en-US" sz="1500" dirty="0"/>
          </a:p>
          <a:p>
            <a:pPr lvl="2"/>
            <a:r>
              <a:rPr lang="en-US" sz="1500" b="1" dirty="0"/>
              <a:t>Profit Margin = Profit / Revenue</a:t>
            </a:r>
            <a:endParaRPr lang="en-US" sz="1500" dirty="0"/>
          </a:p>
          <a:p>
            <a:pPr lvl="2"/>
            <a:r>
              <a:rPr lang="en-US" sz="1500" b="1" dirty="0"/>
              <a:t>Income Groups (Low / Middle / High)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8763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8F56-A4E3-DE03-7EDE-FB64401E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EA48-7D6B-25B5-B849-09DC67C4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A004-26AE-C5D4-9B9E-3BF91724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</a:p>
          <a:p>
            <a:pPr lvl="1"/>
            <a:r>
              <a:rPr lang="en-US" sz="1500" b="1" dirty="0"/>
              <a:t>SQL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extraction &amp; business question analysis</a:t>
            </a:r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Transformation &amp; Shaping</a:t>
            </a:r>
          </a:p>
          <a:p>
            <a:pPr lvl="2"/>
            <a:r>
              <a:rPr lang="en-US" sz="1500" dirty="0"/>
              <a:t>Column Standardization</a:t>
            </a:r>
          </a:p>
          <a:p>
            <a:pPr lvl="2"/>
            <a:r>
              <a:rPr lang="en-US" sz="1500" dirty="0"/>
              <a:t>Data Preparation for BI Integration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Dashboard &amp; Visualization</a:t>
            </a:r>
          </a:p>
          <a:p>
            <a:pPr lvl="2"/>
            <a:r>
              <a:rPr lang="en-US" sz="1500" dirty="0"/>
              <a:t>Data Modeling &amp; Relationship Building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KPI Calculations Columns &amp; Measures</a:t>
            </a:r>
          </a:p>
          <a:p>
            <a:pPr lvl="2"/>
            <a:r>
              <a:rPr lang="en-US" sz="1500" dirty="0"/>
              <a:t>Slicers &amp; Dynamic Filtering</a:t>
            </a:r>
            <a:endParaRPr lang="en-US" sz="1500" b="1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330338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E248-9851-9F88-EF9F-E8549C3C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F7D6-798B-55DD-E9EA-DFC98DEA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043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8F1D-3A1F-D117-1865-670F335E4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432"/>
            <a:ext cx="12192000" cy="5687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Preparation, Process &amp; Analytical Approach:</a:t>
            </a:r>
          </a:p>
          <a:p>
            <a:pPr lvl="1"/>
            <a:r>
              <a:rPr lang="en-US" sz="1500" b="1" dirty="0"/>
              <a:t>Data Preparation &amp; Cleaning:</a:t>
            </a:r>
          </a:p>
          <a:p>
            <a:pPr lvl="2"/>
            <a:r>
              <a:rPr lang="en-US" sz="1500" dirty="0"/>
              <a:t>Removed </a:t>
            </a:r>
            <a:r>
              <a:rPr lang="en-US" sz="1500" b="1" dirty="0"/>
              <a:t>null values &amp; inconsistencies</a:t>
            </a:r>
            <a:endParaRPr lang="en-US" sz="1500" dirty="0"/>
          </a:p>
          <a:p>
            <a:pPr lvl="2"/>
            <a:r>
              <a:rPr lang="en-US" sz="1500" dirty="0"/>
              <a:t>Fixed </a:t>
            </a:r>
            <a:r>
              <a:rPr lang="en-US" sz="1500" b="1" dirty="0"/>
              <a:t>date hierarchy issues</a:t>
            </a:r>
            <a:endParaRPr lang="en-US" sz="1500" dirty="0"/>
          </a:p>
          <a:p>
            <a:pPr lvl="2"/>
            <a:r>
              <a:rPr lang="en-US" sz="1500" dirty="0"/>
              <a:t>Standardized </a:t>
            </a:r>
            <a:r>
              <a:rPr lang="en-US" sz="1500" b="1" dirty="0"/>
              <a:t>product &amp; customer attributes</a:t>
            </a:r>
            <a:endParaRPr lang="en-US" sz="1500" dirty="0"/>
          </a:p>
          <a:p>
            <a:pPr lvl="1"/>
            <a:r>
              <a:rPr lang="en-US" sz="1500" b="1" dirty="0"/>
              <a:t>Data Modeling &amp; Integration:</a:t>
            </a:r>
          </a:p>
          <a:p>
            <a:pPr lvl="2"/>
            <a:r>
              <a:rPr lang="en-US" sz="1500" dirty="0"/>
              <a:t>Built </a:t>
            </a:r>
            <a:r>
              <a:rPr lang="en-US" sz="1500" b="1" dirty="0"/>
              <a:t>star schema model</a:t>
            </a:r>
            <a:endParaRPr lang="en-US" sz="1500" dirty="0"/>
          </a:p>
          <a:p>
            <a:pPr lvl="2"/>
            <a:r>
              <a:rPr lang="en-US" sz="1500" dirty="0"/>
              <a:t>Established </a:t>
            </a:r>
            <a:r>
              <a:rPr lang="en-US" sz="1500" b="1" dirty="0"/>
              <a:t>relationships between fact &amp; dimension tables</a:t>
            </a:r>
            <a:endParaRPr lang="en-US" sz="1500" dirty="0"/>
          </a:p>
          <a:p>
            <a:pPr lvl="1"/>
            <a:r>
              <a:rPr lang="en-US" sz="1500" b="1" dirty="0"/>
              <a:t>Feature Engineering:</a:t>
            </a:r>
          </a:p>
          <a:p>
            <a:pPr lvl="2"/>
            <a:r>
              <a:rPr lang="en-US" sz="1500" b="1" dirty="0"/>
              <a:t>Profit &amp; Revenue measures</a:t>
            </a:r>
            <a:endParaRPr lang="en-US" sz="1500" dirty="0"/>
          </a:p>
          <a:p>
            <a:pPr lvl="2"/>
            <a:r>
              <a:rPr lang="en-US" sz="1500" b="1" dirty="0"/>
              <a:t>Return Rate</a:t>
            </a:r>
            <a:endParaRPr lang="en-US" sz="1500" dirty="0"/>
          </a:p>
          <a:p>
            <a:pPr lvl="2"/>
            <a:r>
              <a:rPr lang="en-US" sz="1500" b="1" dirty="0"/>
              <a:t>Growth % (MoM)</a:t>
            </a:r>
            <a:endParaRPr lang="en-US" sz="1500" dirty="0"/>
          </a:p>
          <a:p>
            <a:pPr lvl="2"/>
            <a:r>
              <a:rPr lang="en-US" sz="1500" b="1" dirty="0"/>
              <a:t>Income segmentation</a:t>
            </a:r>
            <a:endParaRPr lang="en-US" sz="1500" dirty="0"/>
          </a:p>
          <a:p>
            <a:pPr lvl="1"/>
            <a:r>
              <a:rPr lang="en-US" sz="1500" b="1" dirty="0"/>
              <a:t>Visualization Design:</a:t>
            </a:r>
          </a:p>
          <a:p>
            <a:pPr lvl="2"/>
            <a:r>
              <a:rPr lang="en-US" sz="1500" dirty="0"/>
              <a:t>Designed </a:t>
            </a:r>
            <a:r>
              <a:rPr lang="en-US" sz="1500" b="1" dirty="0"/>
              <a:t>3 business-focused dashboards</a:t>
            </a:r>
            <a:endParaRPr lang="en-US" sz="1500" dirty="0"/>
          </a:p>
          <a:p>
            <a:pPr lvl="2"/>
            <a:r>
              <a:rPr lang="en-US" sz="1500" dirty="0"/>
              <a:t>Used </a:t>
            </a:r>
            <a:r>
              <a:rPr lang="en-US" sz="1500" b="1" dirty="0"/>
              <a:t>clear KPI cards &amp; supporting visuals</a:t>
            </a:r>
          </a:p>
          <a:p>
            <a:pPr lvl="2"/>
            <a:r>
              <a:rPr lang="en-US" sz="1500" dirty="0"/>
              <a:t>Consistent color theme &amp; layout</a:t>
            </a:r>
          </a:p>
          <a:p>
            <a:pPr lvl="1"/>
            <a:r>
              <a:rPr lang="en-US" sz="1500" b="1" dirty="0"/>
              <a:t>Validation &amp; Formatting:</a:t>
            </a:r>
          </a:p>
          <a:p>
            <a:pPr lvl="2"/>
            <a:r>
              <a:rPr lang="en-US" sz="1500" b="1" dirty="0"/>
              <a:t>Accurate KPI calculations</a:t>
            </a:r>
            <a:endParaRPr lang="en-US" sz="1500" dirty="0"/>
          </a:p>
          <a:p>
            <a:pPr lvl="2"/>
            <a:r>
              <a:rPr lang="en-US" sz="1500" b="1" dirty="0"/>
              <a:t>Consistent formatting</a:t>
            </a:r>
            <a:endParaRPr lang="en-US" sz="1500" dirty="0"/>
          </a:p>
          <a:p>
            <a:pPr lvl="2"/>
            <a:r>
              <a:rPr lang="en-US" sz="1500" b="1" dirty="0"/>
              <a:t>User-friendly layout &amp; slicers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3920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29C38-2056-6230-74A3-92E21B52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4DFC-B995-785C-D373-C39FB349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CAB2-E2A4-7030-447D-ADE0DBE5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To address the business challenges and uncover meaningful insights, this analysis focuses on answering </a:t>
            </a:r>
            <a:r>
              <a:rPr lang="en-US" altLang="en-US" sz="1500" b="1" dirty="0"/>
              <a:t>critical questions related to revenue generation, return risks, and customer behavior</a:t>
            </a:r>
            <a:r>
              <a:rPr lang="en-US" altLang="en-US" sz="1500" dirty="0"/>
              <a:t>. The objective is to identify </a:t>
            </a:r>
            <a:r>
              <a:rPr lang="en-US" altLang="en-US" sz="1500" b="1" dirty="0"/>
              <a:t>key drivers of performance, areas of inefficiency, and opportunities for growth</a:t>
            </a:r>
            <a:r>
              <a:rPr lang="en-US" altLang="en-US" sz="1500" dirty="0"/>
              <a:t> across products, customers, and regions.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products and categories drive maximum revenue and profit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products have high return rates and why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Are </a:t>
            </a:r>
            <a:r>
              <a:rPr lang="en-US" sz="1500" b="1" dirty="0"/>
              <a:t>sales growing consistently over time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customers contribute the most to revenue and profit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customer behavior vary by income, gender, and geography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regions and segments are underperforming</a:t>
            </a:r>
            <a:r>
              <a:rPr lang="en-US" sz="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235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07BE-3A90-A025-A2DC-7C3370CF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168E-EA80-8FD3-18FC-5022B438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8243-8292-D45E-D5D6-C03D468E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Bikes category dominates revenue (~5.2M)</a:t>
            </a:r>
            <a:r>
              <a:rPr lang="en-US" sz="1500" dirty="0"/>
              <a:t> while others contribute minimally.</a:t>
            </a:r>
          </a:p>
          <a:p>
            <a:pPr lvl="1"/>
            <a:r>
              <a:rPr lang="en-US" sz="1500" b="1" dirty="0"/>
              <a:t>Return Rate is ~11.64%</a:t>
            </a:r>
            <a:r>
              <a:rPr lang="en-US" sz="1500" dirty="0"/>
              <a:t>, indicating </a:t>
            </a:r>
            <a:r>
              <a:rPr lang="en-US" sz="1500" b="1" dirty="0"/>
              <a:t>significant product quality or expectation issues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Certain products (e.g., </a:t>
            </a:r>
            <a:r>
              <a:rPr lang="en-US" sz="1500" b="1" dirty="0"/>
              <a:t>Road &amp; Mountain series</a:t>
            </a:r>
            <a:r>
              <a:rPr lang="en-US" sz="1500" dirty="0"/>
              <a:t>) show </a:t>
            </a:r>
            <a:r>
              <a:rPr lang="en-US" sz="1500" b="1" dirty="0"/>
              <a:t>high return rates → risk area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Revenue trend shows fluctuations</a:t>
            </a:r>
            <a:r>
              <a:rPr lang="en-US" sz="1500" dirty="0"/>
              <a:t>, with </a:t>
            </a:r>
            <a:r>
              <a:rPr lang="en-US" sz="1500" b="1" dirty="0"/>
              <a:t>peak growth in mid-2016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Profit is highly concentrated in specific models (Mountain-200)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Middle-income customers contribute highest profit</a:t>
            </a:r>
            <a:r>
              <a:rPr lang="en-US" sz="1500" dirty="0"/>
              <a:t>, showing </a:t>
            </a:r>
            <a:r>
              <a:rPr lang="en-US" sz="1500" b="1" dirty="0"/>
              <a:t>strong purchasing power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b="1" dirty="0"/>
              <a:t>Total Revenue:</a:t>
            </a:r>
            <a:r>
              <a:rPr lang="en-US" sz="1500" dirty="0"/>
              <a:t> 5.42M</a:t>
            </a:r>
          </a:p>
          <a:p>
            <a:pPr lvl="1"/>
            <a:r>
              <a:rPr lang="en-US" sz="1500" b="1" dirty="0"/>
              <a:t>Total Profit:</a:t>
            </a:r>
            <a:r>
              <a:rPr lang="en-US" sz="1500" dirty="0"/>
              <a:t> 2.35M</a:t>
            </a:r>
          </a:p>
          <a:p>
            <a:pPr lvl="1"/>
            <a:r>
              <a:rPr lang="en-US" sz="1500" b="1" dirty="0"/>
              <a:t>Profit Margin:</a:t>
            </a:r>
            <a:r>
              <a:rPr lang="en-US" sz="1500" dirty="0"/>
              <a:t> ~43%</a:t>
            </a:r>
          </a:p>
          <a:p>
            <a:pPr lvl="1"/>
            <a:r>
              <a:rPr lang="en-US" sz="1500" b="1" dirty="0"/>
              <a:t>Total Returns:</a:t>
            </a:r>
            <a:r>
              <a:rPr lang="en-US" sz="1500" dirty="0"/>
              <a:t> 1,828</a:t>
            </a:r>
          </a:p>
          <a:p>
            <a:pPr lvl="1"/>
            <a:r>
              <a:rPr lang="en-US" sz="1500" b="1" dirty="0"/>
              <a:t>Top Product Revenue:</a:t>
            </a:r>
            <a:r>
              <a:rPr lang="en-US" sz="1500" dirty="0"/>
              <a:t> ~0.45M</a:t>
            </a:r>
          </a:p>
          <a:p>
            <a:pPr lvl="1"/>
            <a:r>
              <a:rPr lang="en-US" sz="1500" b="1" dirty="0"/>
              <a:t>Top Model Profit:</a:t>
            </a:r>
            <a:r>
              <a:rPr lang="en-US" sz="1500" dirty="0"/>
              <a:t> ~1.16M</a:t>
            </a:r>
          </a:p>
        </p:txBody>
      </p:sp>
    </p:spTree>
    <p:extLst>
      <p:ext uri="{BB962C8B-B14F-4D97-AF65-F5344CB8AC3E}">
        <p14:creationId xmlns:p14="http://schemas.microsoft.com/office/powerpoint/2010/main" val="301284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BBCC3-3178-BB03-4F94-36909A86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1299-CC3F-DB52-B627-01479B60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3085-8DE1-CFFD-0418-F629680A2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business is </a:t>
            </a:r>
            <a:r>
              <a:rPr lang="en-US" sz="1500" b="1" dirty="0"/>
              <a:t>revenue-strong but operationally inefficient due to returns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Profitability is concentrated</a:t>
            </a:r>
            <a:r>
              <a:rPr lang="en-US" sz="1500" dirty="0"/>
              <a:t>, indicating </a:t>
            </a:r>
            <a:r>
              <a:rPr lang="en-US" sz="1500" b="1" dirty="0"/>
              <a:t>dependency on limited products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Customer segmentation reveals high-value target groups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Focus should be on:</a:t>
            </a:r>
          </a:p>
          <a:p>
            <a:pPr lvl="2"/>
            <a:r>
              <a:rPr lang="en-US" sz="1500" b="1" dirty="0"/>
              <a:t>Reducing returns</a:t>
            </a:r>
            <a:endParaRPr lang="en-US" sz="1500" dirty="0"/>
          </a:p>
          <a:p>
            <a:pPr lvl="2"/>
            <a:r>
              <a:rPr lang="en-US" sz="1500" b="1" dirty="0"/>
              <a:t>Diversifying revenue sources</a:t>
            </a:r>
            <a:endParaRPr lang="en-US" sz="1500" dirty="0"/>
          </a:p>
          <a:p>
            <a:pPr lvl="2"/>
            <a:r>
              <a:rPr lang="en-US" sz="1500" b="1" dirty="0"/>
              <a:t>Targeting high-profit customer segments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6774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Revenue Performance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9A0546-8F17-55A6-EDD7-77CFAFF96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602466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 fontScale="90000"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Returns &amp; Product Reliability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C256C2E-87BF-58C1-043B-8E5FB4C54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271248" cy="5586983"/>
          </a:xfr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09D5-B477-4167-5605-8D691309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F44D-5162-6032-1E99-10FBDDAA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(3) – Customer Profitability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EEC6A3-2553-875D-8122-C5DD94B11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1999" cy="5586983"/>
          </a:xfrm>
        </p:spPr>
      </p:pic>
    </p:spTree>
    <p:extLst>
      <p:ext uri="{BB962C8B-B14F-4D97-AF65-F5344CB8AC3E}">
        <p14:creationId xmlns:p14="http://schemas.microsoft.com/office/powerpoint/2010/main" val="65221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83EE-CAA4-6258-2462-71277E2F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16EB768-C1A2-798B-6997-44B7CBCBE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8736BC-DF12-8C5E-83E3-577D030710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099562"/>
            <a:ext cx="1219200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500" dirty="0"/>
              <a:t>This analysis translates data insights into </a:t>
            </a:r>
            <a:r>
              <a:rPr lang="en-US" altLang="en-US" sz="1500" b="1" dirty="0"/>
              <a:t>practical business actions</a:t>
            </a:r>
            <a:r>
              <a:rPr lang="en-US" altLang="en-US" sz="1500" dirty="0"/>
              <a:t> that drive measurable impact across operations, marketing, and strategy. By leveraging data-driven findings, the business can </a:t>
            </a:r>
            <a:r>
              <a:rPr lang="en-US" altLang="en-US" sz="1500" b="1" dirty="0"/>
              <a:t>reduce inefficiencies, enhance customer targeting, and improve overall profitability</a:t>
            </a:r>
            <a:r>
              <a:rPr lang="en-US" altLang="en-US" sz="1500" dirty="0"/>
              <a:t>, enabling smarter and more informed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reduce return losses by identifying problem products.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Pinpoints products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return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enabling businesses to investigate root causes like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quality issues, pricing mismatch, or customer expectations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take corrective actions.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targeted marketing for high-value customers.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top-performing customer segments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 revenue and profitability, allowing for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personalized campaigns, better engagement, and higher conversion rates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inventory &amp; pricing decisions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insights into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high-demand and low-performing products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helping optimize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stock levels, avoid overstocking, and implement competitive pricing strategies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Assists leadership in data-driven strategic planning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Offers a clear view of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performance across products, regions, and customers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enabling leaders to make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informed, strategic decisions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backed by data.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profitability through product &amp; segment optimization</a:t>
            </a:r>
            <a:r>
              <a:rPr lang="en-US" altLang="en-US" sz="1500" dirty="0"/>
              <a:t>.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high-margin products and profitable segments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allowing the business to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resources, refine offerings, and maximize overall profitability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9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5298</TotalTime>
  <Words>1065</Words>
  <Application>Microsoft Office PowerPoint</Application>
  <PresentationFormat>Widescreen</PresentationFormat>
  <Paragraphs>152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Revenue, Returns &amp; Product Reliability and Customer Profitability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Revenue Performance</vt:lpstr>
      <vt:lpstr>🖥️ Dashboard Overview (2) – Returns &amp; Product Reliability</vt:lpstr>
      <vt:lpstr>🖥️ Dashboard Overview (3) – Customer Profitability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59</cp:revision>
  <dcterms:created xsi:type="dcterms:W3CDTF">2025-10-10T07:10:37Z</dcterms:created>
  <dcterms:modified xsi:type="dcterms:W3CDTF">2026-04-05T17:50:53Z</dcterms:modified>
</cp:coreProperties>
</file>